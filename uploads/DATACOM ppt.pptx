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67" r:id="rId2"/>
    <p:sldId id="268" r:id="rId3"/>
    <p:sldId id="256" r:id="rId4"/>
    <p:sldId id="257" r:id="rId5"/>
    <p:sldId id="258" r:id="rId6"/>
    <p:sldId id="259" r:id="rId7"/>
    <p:sldId id="260" r:id="rId8"/>
    <p:sldId id="261" r:id="rId9"/>
    <p:sldId id="262" r:id="rId10"/>
    <p:sldId id="263" r:id="rId11"/>
    <p:sldId id="264" r:id="rId12"/>
    <p:sldId id="265" r:id="rId13"/>
    <p:sldId id="266"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7630" autoAdjust="0"/>
  </p:normalViewPr>
  <p:slideViewPr>
    <p:cSldViewPr>
      <p:cViewPr varScale="1">
        <p:scale>
          <a:sx n="89" d="100"/>
          <a:sy n="89" d="100"/>
        </p:scale>
        <p:origin x="-948"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F445E2-0AA7-4385-B2A6-B212AE55CF14}" type="slidenum">
              <a:rPr lang="en-US" smtClean="0"/>
              <a:t>‹#›</a:t>
            </a:fld>
            <a:endParaRPr lang="en-US" dirty="0"/>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F445E2-0AA7-4385-B2A6-B212AE55CF14}" type="slidenum">
              <a:rPr lang="en-US" smtClean="0"/>
              <a:t>‹#›</a:t>
            </a:fld>
            <a:endParaRPr lang="en-US" dirty="0"/>
          </a:p>
        </p:txBody>
      </p:sp>
      <p:sp>
        <p:nvSpPr>
          <p:cNvPr id="8" name="Title 7"/>
          <p:cNvSpPr>
            <a:spLocks noGrp="1"/>
          </p:cNvSpPr>
          <p:nvPr>
            <p:ph type="title"/>
          </p:nvPr>
        </p:nvSpPr>
        <p:spPr/>
        <p:txBody>
          <a:bodyPr/>
          <a:lstStyle/>
          <a:p>
            <a:r>
              <a:rPr lang="en-US" smtClean="0"/>
              <a:t>Click to edit Master title style</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F445E2-0AA7-4385-B2A6-B212AE55CF14}" type="slidenum">
              <a:rPr lang="en-US" smtClean="0"/>
              <a:t>‹#›</a:t>
            </a:fld>
            <a:endParaRPr 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F445E2-0AA7-4385-B2A6-B212AE55CF14}" type="slidenum">
              <a:rPr lang="en-US" smtClean="0"/>
              <a:t>‹#›</a:t>
            </a:fld>
            <a:endParaRPr lang="en-US" dirty="0"/>
          </a:p>
        </p:txBody>
      </p:sp>
      <p:sp>
        <p:nvSpPr>
          <p:cNvPr id="8" name="Title 7"/>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smtClean="0"/>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6F445E2-0AA7-4385-B2A6-B212AE55CF14}" type="slidenum">
              <a:rPr lang="en-US" smtClean="0"/>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6F445E2-0AA7-4385-B2A6-B212AE55CF14}" type="slidenum">
              <a:rPr lang="en-US" smtClean="0"/>
              <a:t>‹#›</a:t>
            </a:fld>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6F445E2-0AA7-4385-B2A6-B212AE55CF14}" type="slidenum">
              <a:rPr lang="en-US" smtClean="0"/>
              <a:t>‹#›</a:t>
            </a:fld>
            <a:endParaRPr 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F445E2-0AA7-4385-B2A6-B212AE55CF14}" type="slidenum">
              <a:rPr lang="en-US" smtClean="0"/>
              <a:t>‹#›</a:t>
            </a:fld>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F445E2-0AA7-4385-B2A6-B212AE55CF14}" type="slidenum">
              <a:rPr lang="en-US" smtClean="0"/>
              <a:t>‹#›</a:t>
            </a:fld>
            <a:endParaRPr lang="en-US" dirty="0"/>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F445E2-0AA7-4385-B2A6-B212AE55CF14}" type="slidenum">
              <a:rPr lang="en-US" smtClean="0"/>
              <a:t>‹#›</a:t>
            </a:fld>
            <a:endParaRPr lang="en-US"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34A2D0-2C93-4FE3-8F31-1C2B0E849CC5}" type="datetimeFigureOut">
              <a:rPr lang="en-US" smtClean="0"/>
              <a:t>5/24/2024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6F445E2-0AA7-4385-B2A6-B212AE55CF14}" type="slidenum">
              <a:rPr lang="en-US" smtClean="0"/>
              <a:t>‹#›</a:t>
            </a:fld>
            <a:endParaRPr 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234A2D0-2C93-4FE3-8F31-1C2B0E849CC5}" type="datetimeFigureOut">
              <a:rPr lang="en-US" smtClean="0"/>
              <a:t>5/24/2024</a:t>
            </a:fld>
            <a:endParaRPr lang="en-US" dirty="0"/>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56F445E2-0AA7-4385-B2A6-B212AE55CF14}"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par>
    </p:tnLst>
  </p:timing>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3"/>
          </p:nvPr>
        </p:nvSpPr>
        <p:spPr/>
        <p:txBody>
          <a:bodyPr/>
          <a:lstStyle/>
          <a:p>
            <a:endParaRPr lang="en-US"/>
          </a:p>
        </p:txBody>
      </p:sp>
    </p:spTree>
    <p:extLst>
      <p:ext uri="{BB962C8B-B14F-4D97-AF65-F5344CB8AC3E}">
        <p14:creationId xmlns:p14="http://schemas.microsoft.com/office/powerpoint/2010/main" val="279291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
            </a:r>
            <a:r>
              <a:rPr lang="en-US" dirty="0" smtClean="0"/>
              <a:t>ontents</a:t>
            </a:r>
            <a:endParaRPr lang="en-US" dirty="0"/>
          </a:p>
        </p:txBody>
      </p:sp>
      <p:sp>
        <p:nvSpPr>
          <p:cNvPr id="3" name="Content Placeholder 2"/>
          <p:cNvSpPr>
            <a:spLocks noGrp="1"/>
          </p:cNvSpPr>
          <p:nvPr>
            <p:ph sz="quarter" idx="13"/>
          </p:nvPr>
        </p:nvSpPr>
        <p:spPr/>
        <p:txBody>
          <a:bodyPr>
            <a:normAutofit fontScale="92500" lnSpcReduction="20000"/>
          </a:bodyPr>
          <a:lstStyle/>
          <a:p>
            <a:r>
              <a:rPr lang="en-US" b="1" i="1" dirty="0" smtClean="0"/>
              <a:t>Packet over SONET(POS)</a:t>
            </a:r>
          </a:p>
          <a:p>
            <a:pPr lvl="2"/>
            <a:r>
              <a:rPr lang="en-US" dirty="0" smtClean="0"/>
              <a:t>Architecture and Operation</a:t>
            </a:r>
          </a:p>
          <a:p>
            <a:pPr lvl="2"/>
            <a:r>
              <a:rPr lang="en-US" i="1" dirty="0" smtClean="0"/>
              <a:t>Advantages of PoS</a:t>
            </a:r>
          </a:p>
          <a:p>
            <a:pPr lvl="2"/>
            <a:r>
              <a:rPr lang="en-US" dirty="0" smtClean="0"/>
              <a:t>Applications</a:t>
            </a:r>
          </a:p>
          <a:p>
            <a:r>
              <a:rPr lang="en-US" b="1" dirty="0" smtClean="0"/>
              <a:t>ADSL (Asymmetric Digital Subscriber Line)</a:t>
            </a:r>
          </a:p>
          <a:p>
            <a:pPr lvl="2"/>
            <a:r>
              <a:rPr lang="en-US" dirty="0" smtClean="0"/>
              <a:t>Difference between ADLS and SDLS</a:t>
            </a:r>
          </a:p>
          <a:p>
            <a:r>
              <a:rPr lang="en-US" b="1" dirty="0" smtClean="0"/>
              <a:t>Data Over Cable Service Interface Specification (DOCSIS)</a:t>
            </a:r>
          </a:p>
          <a:p>
            <a:pPr lvl="2"/>
            <a:r>
              <a:rPr lang="en-US" b="1" dirty="0" smtClean="0"/>
              <a:t>DOCSIS Architecture</a:t>
            </a:r>
          </a:p>
          <a:p>
            <a:pPr lvl="2"/>
            <a:r>
              <a:rPr lang="en-US" b="1" dirty="0" smtClean="0"/>
              <a:t>Versions of DOCSIS</a:t>
            </a:r>
            <a:endParaRPr lang="en-US" dirty="0"/>
          </a:p>
          <a:p>
            <a:pPr lvl="2"/>
            <a:r>
              <a:rPr lang="en-US" b="1" dirty="0" smtClean="0"/>
              <a:t>Features of DOSCIS</a:t>
            </a:r>
          </a:p>
          <a:p>
            <a:pPr algn="ctr">
              <a:buFont typeface="Wingdings" pitchFamily="2" charset="2"/>
              <a:buChar char="§"/>
            </a:pPr>
            <a:endParaRPr lang="en-US" dirty="0"/>
          </a:p>
        </p:txBody>
      </p:sp>
    </p:spTree>
    <p:extLst>
      <p:ext uri="{BB962C8B-B14F-4D97-AF65-F5344CB8AC3E}">
        <p14:creationId xmlns:p14="http://schemas.microsoft.com/office/powerpoint/2010/main" val="1809640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4800" b="1" i="1" u="sng" dirty="0"/>
              <a:t>Packet over </a:t>
            </a:r>
            <a:r>
              <a:rPr lang="en-US" sz="4800" b="1" i="1" u="sng" dirty="0" smtClean="0"/>
              <a:t>SONET</a:t>
            </a:r>
            <a:endParaRPr lang="en-US" sz="4800" i="1" dirty="0"/>
          </a:p>
        </p:txBody>
      </p:sp>
      <p:sp>
        <p:nvSpPr>
          <p:cNvPr id="3" name="Subtitle 2"/>
          <p:cNvSpPr>
            <a:spLocks noGrp="1"/>
          </p:cNvSpPr>
          <p:nvPr>
            <p:ph sz="quarter" idx="13"/>
          </p:nvPr>
        </p:nvSpPr>
        <p:spPr/>
        <p:txBody>
          <a:bodyPr>
            <a:normAutofit fontScale="77500" lnSpcReduction="20000"/>
          </a:bodyPr>
          <a:lstStyle/>
          <a:p>
            <a:pPr marL="285750" indent="-285750" algn="l">
              <a:buFont typeface="Arial" pitchFamily="34" charset="0"/>
              <a:buChar char="•"/>
            </a:pPr>
            <a:r>
              <a:rPr lang="en-US" sz="2000" dirty="0"/>
              <a:t>Packet over SONET (PoS) is a technology applied in the communication industry to send packets, typically IP packets, through the SONET (Synchronous Optical Network) or SDH (Synchronous Digital Hierarchy). </a:t>
            </a:r>
            <a:endParaRPr lang="en-US" sz="2000" dirty="0" smtClean="0"/>
          </a:p>
          <a:p>
            <a:pPr marL="285750" indent="-285750" algn="l">
              <a:buFont typeface="Arial" pitchFamily="34" charset="0"/>
              <a:buChar char="•"/>
            </a:pPr>
            <a:r>
              <a:rPr lang="en-US" sz="2000" dirty="0" smtClean="0"/>
              <a:t>They </a:t>
            </a:r>
            <a:r>
              <a:rPr lang="en-US" sz="2000" dirty="0"/>
              <a:t>are heavily used by telecommunication networks because of their high speed, reliability and ability to handle large amount of data. </a:t>
            </a:r>
            <a:endParaRPr lang="en-US" sz="2000" dirty="0" smtClean="0"/>
          </a:p>
          <a:p>
            <a:pPr marL="285750" indent="-285750" algn="l">
              <a:buFont typeface="Arial" pitchFamily="34" charset="0"/>
              <a:buChar char="•"/>
            </a:pPr>
            <a:r>
              <a:rPr lang="en-US" sz="2000" dirty="0"/>
              <a:t>SONET and SDH are two internationally standardized protocols used for transmitting information on optical fiber </a:t>
            </a:r>
            <a:r>
              <a:rPr lang="en-US" sz="2000" dirty="0" smtClean="0"/>
              <a:t>networks</a:t>
            </a:r>
          </a:p>
          <a:p>
            <a:pPr marL="285750" indent="-285750" algn="l">
              <a:buFont typeface="Arial" pitchFamily="34" charset="0"/>
              <a:buChar char="•"/>
            </a:pPr>
            <a:r>
              <a:rPr lang="en-US" sz="2000" dirty="0"/>
              <a:t>These protocols allow long distance digital transmissions with minimum loss and highest reliability</a:t>
            </a:r>
            <a:endParaRPr lang="en-US" sz="2000" dirty="0" smtClean="0"/>
          </a:p>
          <a:p>
            <a:pPr marL="285750" indent="-285750" algn="l">
              <a:buFont typeface="Arial" pitchFamily="34" charset="0"/>
              <a:buChar char="•"/>
            </a:pPr>
            <a:r>
              <a:rPr lang="en-US" sz="2000" dirty="0"/>
              <a:t>. In North America, SONET is commonly applied during network design while SDH is used for the other parts of the world. </a:t>
            </a:r>
            <a:endParaRPr lang="en-US" sz="2000" dirty="0" smtClean="0"/>
          </a:p>
        </p:txBody>
      </p:sp>
    </p:spTree>
    <p:extLst>
      <p:ext uri="{BB962C8B-B14F-4D97-AF65-F5344CB8AC3E}">
        <p14:creationId xmlns:p14="http://schemas.microsoft.com/office/powerpoint/2010/main" val="2765285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Architecture and Operation</a:t>
            </a:r>
          </a:p>
        </p:txBody>
      </p:sp>
      <p:sp>
        <p:nvSpPr>
          <p:cNvPr id="3" name="Content Placeholder 2"/>
          <p:cNvSpPr>
            <a:spLocks noGrp="1"/>
          </p:cNvSpPr>
          <p:nvPr>
            <p:ph sz="quarter" idx="13"/>
          </p:nvPr>
        </p:nvSpPr>
        <p:spPr/>
        <p:txBody>
          <a:bodyPr>
            <a:normAutofit fontScale="70000" lnSpcReduction="20000"/>
          </a:bodyPr>
          <a:lstStyle/>
          <a:p>
            <a:r>
              <a:rPr lang="en-US" sz="1600" dirty="0"/>
              <a:t>PoS architecture involves packetizing packets in order to transmit them across the SONET/SDH network. Some important components </a:t>
            </a:r>
            <a:r>
              <a:rPr lang="en-US" sz="1600" dirty="0" smtClean="0"/>
              <a:t>include:</a:t>
            </a:r>
          </a:p>
          <a:p>
            <a:pPr>
              <a:buFont typeface="+mj-lt"/>
              <a:buAutoNum type="arabicPeriod"/>
            </a:pPr>
            <a:r>
              <a:rPr lang="en-US" sz="1600" b="1" dirty="0" smtClean="0"/>
              <a:t>Encapsulation: </a:t>
            </a:r>
            <a:r>
              <a:rPr lang="en-US" sz="1600" dirty="0" smtClean="0"/>
              <a:t>The </a:t>
            </a:r>
            <a:r>
              <a:rPr lang="en-US" sz="1600" dirty="0"/>
              <a:t>process of encapsulation entails adding headers and trailers to the packets in order to make them suitable for transmission on a network. </a:t>
            </a:r>
            <a:endParaRPr lang="en-US" sz="1600" dirty="0" smtClean="0"/>
          </a:p>
          <a:p>
            <a:r>
              <a:rPr lang="en-US" sz="1600" dirty="0"/>
              <a:t>For this purpose, there are two primary protocols used</a:t>
            </a:r>
            <a:r>
              <a:rPr lang="en-US" sz="1600" dirty="0" smtClean="0"/>
              <a:t>:</a:t>
            </a:r>
          </a:p>
          <a:p>
            <a:r>
              <a:rPr lang="en-US" sz="1600" b="1" i="1" u="sng" dirty="0"/>
              <a:t>Point-to-Point Protocol (PPP):   </a:t>
            </a:r>
            <a:r>
              <a:rPr lang="en-US" sz="1600" dirty="0"/>
              <a:t>In PoS, PPP is frequently employed for packet encapsulation. It offers a standard means of conveying multiprotocol datagrams across point-to-point links. </a:t>
            </a:r>
            <a:endParaRPr lang="en-US" sz="1600" dirty="0" smtClean="0"/>
          </a:p>
          <a:p>
            <a:r>
              <a:rPr lang="en-US" sz="1600" b="1" i="1" u="sng" dirty="0"/>
              <a:t>High-Level Data Link Control (HDLC):  </a:t>
            </a:r>
            <a:r>
              <a:rPr lang="en-US" sz="1600" dirty="0"/>
              <a:t>HDLC is one more possible protocol employed within PoS for encapsulation purposes. </a:t>
            </a:r>
            <a:endParaRPr lang="en-US" sz="1600" dirty="0" smtClean="0"/>
          </a:p>
          <a:p>
            <a:pPr marL="0" indent="0">
              <a:buNone/>
            </a:pPr>
            <a:r>
              <a:rPr lang="en-US" sz="1600" b="1" dirty="0" smtClean="0"/>
              <a:t>2.</a:t>
            </a:r>
            <a:r>
              <a:rPr lang="en-US" sz="1600" dirty="0"/>
              <a:t> </a:t>
            </a:r>
            <a:r>
              <a:rPr lang="en-US" sz="1600" b="1" dirty="0"/>
              <a:t>SONET/SDH </a:t>
            </a:r>
            <a:r>
              <a:rPr lang="en-US" sz="1600" b="1" dirty="0" smtClean="0"/>
              <a:t>Framework: </a:t>
            </a:r>
            <a:r>
              <a:rPr lang="en-US" sz="1600" dirty="0"/>
              <a:t>These encapsulated packets are then transmitted over the SONET/SDH network. Hierarchical structure is designed in such a way as to divide SONET/SDH networks into several layers each with its own specific functions</a:t>
            </a:r>
            <a:r>
              <a:rPr lang="en-US" sz="1600" dirty="0" smtClean="0"/>
              <a:t>:</a:t>
            </a:r>
          </a:p>
          <a:p>
            <a:pPr marL="400050" indent="-400050">
              <a:buFont typeface="+mj-lt"/>
              <a:buAutoNum type="romanUcPeriod"/>
            </a:pPr>
            <a:r>
              <a:rPr lang="en-US" sz="1600" b="1" dirty="0"/>
              <a:t>Physical Layer: </a:t>
            </a:r>
            <a:r>
              <a:rPr lang="en-US" sz="1600" dirty="0"/>
              <a:t>This is made up of optical fibers as well as associated hardware that receives or sends optical signals</a:t>
            </a:r>
            <a:r>
              <a:rPr lang="en-US" sz="1600" dirty="0" smtClean="0"/>
              <a:t>.</a:t>
            </a:r>
          </a:p>
          <a:p>
            <a:pPr marL="400050" indent="-400050">
              <a:buFont typeface="+mj-lt"/>
              <a:buAutoNum type="romanUcPeriod"/>
            </a:pPr>
            <a:r>
              <a:rPr lang="en-US" sz="1600" b="1" dirty="0"/>
              <a:t>Section Layer:</a:t>
            </a:r>
            <a:r>
              <a:rPr lang="en-US" sz="1600" dirty="0"/>
              <a:t> Responsible for physical transmission of signal over fiber including framing errors and </a:t>
            </a:r>
            <a:r>
              <a:rPr lang="en-US" sz="1600" dirty="0" smtClean="0"/>
              <a:t>correction.</a:t>
            </a:r>
          </a:p>
          <a:p>
            <a:pPr marL="400050" indent="-400050">
              <a:buFont typeface="+mj-lt"/>
              <a:buAutoNum type="romanUcPeriod"/>
            </a:pPr>
            <a:r>
              <a:rPr lang="en-US" sz="1600" b="1" dirty="0" smtClean="0"/>
              <a:t>Line </a:t>
            </a:r>
            <a:r>
              <a:rPr lang="en-US" sz="1600" b="1" dirty="0"/>
              <a:t>Layer: </a:t>
            </a:r>
            <a:r>
              <a:rPr lang="en-US" sz="1600" dirty="0"/>
              <a:t>Ensures the reliable transfer of data across the network by managing synchronization, multiplexing, and </a:t>
            </a:r>
            <a:r>
              <a:rPr lang="en-US" sz="1600" dirty="0" err="1" smtClean="0"/>
              <a:t>demultiplexing</a:t>
            </a:r>
            <a:r>
              <a:rPr lang="en-US" sz="1600" dirty="0" smtClean="0"/>
              <a:t>.</a:t>
            </a:r>
          </a:p>
          <a:p>
            <a:pPr marL="400050" indent="-400050">
              <a:buFont typeface="+mj-lt"/>
              <a:buAutoNum type="romanUcPeriod"/>
            </a:pPr>
            <a:r>
              <a:rPr lang="en-US" sz="1600" b="1" dirty="0" smtClean="0"/>
              <a:t>Path Layer: </a:t>
            </a:r>
            <a:r>
              <a:rPr lang="en-US" sz="1600" dirty="0" smtClean="0"/>
              <a:t>Handles the end-to-end transport of data, ensuring that packets are correctly routed and delivered to their destination.</a:t>
            </a:r>
          </a:p>
          <a:p>
            <a:pPr marL="0" indent="0">
              <a:buNone/>
            </a:pPr>
            <a:endParaRPr lang="en-US" sz="1600" b="1" u="sng" dirty="0" smtClean="0"/>
          </a:p>
        </p:txBody>
      </p:sp>
    </p:spTree>
    <p:extLst>
      <p:ext uri="{BB962C8B-B14F-4D97-AF65-F5344CB8AC3E}">
        <p14:creationId xmlns:p14="http://schemas.microsoft.com/office/powerpoint/2010/main" val="2997187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Advantages of Packet over SONET</a:t>
            </a:r>
          </a:p>
        </p:txBody>
      </p:sp>
      <p:sp>
        <p:nvSpPr>
          <p:cNvPr id="3" name="Content Placeholder 2"/>
          <p:cNvSpPr>
            <a:spLocks noGrp="1"/>
          </p:cNvSpPr>
          <p:nvPr>
            <p:ph sz="quarter" idx="13"/>
          </p:nvPr>
        </p:nvSpPr>
        <p:spPr/>
        <p:txBody>
          <a:bodyPr>
            <a:normAutofit/>
          </a:bodyPr>
          <a:lstStyle/>
          <a:p>
            <a:pPr lvl="0">
              <a:buFont typeface="Wingdings" pitchFamily="2" charset="2"/>
              <a:buChar char="Ø"/>
            </a:pPr>
            <a:r>
              <a:rPr lang="en-US" sz="4000" b="1" dirty="0" smtClean="0"/>
              <a:t>High Bandwidth </a:t>
            </a:r>
          </a:p>
          <a:p>
            <a:pPr lvl="0">
              <a:buFont typeface="Wingdings" pitchFamily="2" charset="2"/>
              <a:buChar char="Ø"/>
            </a:pPr>
            <a:r>
              <a:rPr lang="en-US" sz="4000" b="1" dirty="0" smtClean="0"/>
              <a:t>Reliability</a:t>
            </a:r>
          </a:p>
          <a:p>
            <a:pPr lvl="0">
              <a:buFont typeface="Wingdings" pitchFamily="2" charset="2"/>
              <a:buChar char="Ø"/>
            </a:pPr>
            <a:r>
              <a:rPr lang="en-US" sz="4000" b="1" dirty="0" smtClean="0"/>
              <a:t>Scalability</a:t>
            </a:r>
          </a:p>
          <a:p>
            <a:pPr lvl="0">
              <a:buFont typeface="Wingdings" pitchFamily="2" charset="2"/>
              <a:buChar char="Ø"/>
            </a:pPr>
            <a:r>
              <a:rPr lang="en-US" sz="4000" b="1" dirty="0"/>
              <a:t>Interoperability</a:t>
            </a:r>
          </a:p>
          <a:p>
            <a:pPr>
              <a:buFont typeface="Wingdings" pitchFamily="2" charset="2"/>
              <a:buChar char="Ø"/>
            </a:pPr>
            <a:endParaRPr lang="en-US" sz="1400" b="1" dirty="0"/>
          </a:p>
          <a:p>
            <a:pPr lvl="0">
              <a:buFont typeface="Wingdings" pitchFamily="2" charset="2"/>
              <a:buChar char="Ø"/>
            </a:pPr>
            <a:endParaRPr lang="en-US" sz="1400" b="1" dirty="0"/>
          </a:p>
          <a:p>
            <a:pPr>
              <a:buFont typeface="Wingdings" pitchFamily="2" charset="2"/>
              <a:buChar char="Ø"/>
            </a:pPr>
            <a:endParaRPr lang="en-US" sz="1400" dirty="0"/>
          </a:p>
        </p:txBody>
      </p:sp>
    </p:spTree>
    <p:extLst>
      <p:ext uri="{BB962C8B-B14F-4D97-AF65-F5344CB8AC3E}">
        <p14:creationId xmlns:p14="http://schemas.microsoft.com/office/powerpoint/2010/main" val="2684779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smtClean="0"/>
              <a:t>Applications </a:t>
            </a:r>
            <a:endParaRPr lang="en-US" dirty="0"/>
          </a:p>
        </p:txBody>
      </p:sp>
      <p:sp>
        <p:nvSpPr>
          <p:cNvPr id="3" name="Content Placeholder 2"/>
          <p:cNvSpPr>
            <a:spLocks noGrp="1"/>
          </p:cNvSpPr>
          <p:nvPr>
            <p:ph sz="quarter" idx="13"/>
          </p:nvPr>
        </p:nvSpPr>
        <p:spPr/>
        <p:txBody>
          <a:bodyPr>
            <a:normAutofit fontScale="62500" lnSpcReduction="20000"/>
          </a:bodyPr>
          <a:lstStyle/>
          <a:p>
            <a:pPr marL="514350" indent="-514350">
              <a:buFont typeface="+mj-lt"/>
              <a:buAutoNum type="alphaUcPeriod"/>
            </a:pPr>
            <a:r>
              <a:rPr lang="en-US" b="1" i="1" u="sng" dirty="0" smtClean="0"/>
              <a:t>Backbone </a:t>
            </a:r>
            <a:r>
              <a:rPr lang="en-US" b="1" i="1" u="sng" dirty="0"/>
              <a:t>Network </a:t>
            </a:r>
            <a:r>
              <a:rPr lang="en-US" dirty="0" smtClean="0"/>
              <a:t>:</a:t>
            </a:r>
            <a:r>
              <a:rPr lang="en-US" dirty="0"/>
              <a:t>In backbone networks, PoS is utilized to attach major network nodes, could high-speed, reliable data transmission be tunneling over long distances. These are standard and traditional LANs and WANs that are at the heart of the internet and large organizations data networks</a:t>
            </a:r>
            <a:r>
              <a:rPr lang="en-US" dirty="0" smtClean="0"/>
              <a:t>.</a:t>
            </a:r>
          </a:p>
          <a:p>
            <a:pPr marL="514350" indent="-514350">
              <a:buFont typeface="+mj-lt"/>
              <a:buAutoNum type="alphaUcPeriod"/>
            </a:pPr>
            <a:r>
              <a:rPr lang="en-US" b="1" i="1" u="sng" dirty="0"/>
              <a:t>Metropolitan Area Networks (MANs</a:t>
            </a:r>
            <a:r>
              <a:rPr lang="en-US" b="1" i="1" u="sng" dirty="0" smtClean="0"/>
              <a:t>) </a:t>
            </a:r>
            <a:r>
              <a:rPr lang="en-US" dirty="0" smtClean="0"/>
              <a:t>: </a:t>
            </a:r>
            <a:r>
              <a:rPr lang="en-US" dirty="0"/>
              <a:t>MANs also use PoS as a means of connecting several LANs in a city or a region it serves. This allows the network to deliver high speed </a:t>
            </a:r>
            <a:r>
              <a:rPr lang="en-US" dirty="0" smtClean="0"/>
              <a:t>data links </a:t>
            </a:r>
            <a:r>
              <a:rPr lang="en-US" dirty="0"/>
              <a:t>connecting up different regions in a metropolitan area with applications like video conferencing, data mirroring and backup, and disaster recovery</a:t>
            </a:r>
            <a:r>
              <a:rPr lang="en-US" dirty="0" smtClean="0"/>
              <a:t>.</a:t>
            </a:r>
          </a:p>
          <a:p>
            <a:pPr marL="514350" indent="-514350">
              <a:buFont typeface="+mj-lt"/>
              <a:buAutoNum type="alphaUcPeriod"/>
            </a:pPr>
            <a:r>
              <a:rPr lang="en-US" b="1" i="1" u="sng" dirty="0" smtClean="0"/>
              <a:t>Carrier </a:t>
            </a:r>
            <a:r>
              <a:rPr lang="en-US" b="1" i="1" u="sng" dirty="0"/>
              <a:t>Ethernet </a:t>
            </a:r>
            <a:r>
              <a:rPr lang="en-US" b="1" i="1" u="sng" dirty="0" smtClean="0"/>
              <a:t>Services : </a:t>
            </a:r>
            <a:r>
              <a:rPr lang="en-US" dirty="0"/>
              <a:t>Carrier Ethernet services rely on the PoS’s in depth involvement, assisting business customers in attaining </a:t>
            </a:r>
            <a:r>
              <a:rPr lang="en-US" dirty="0" smtClean="0"/>
              <a:t>high speed, </a:t>
            </a:r>
            <a:r>
              <a:rPr lang="en-US" dirty="0"/>
              <a:t>stable connectivity. </a:t>
            </a:r>
            <a:endParaRPr lang="en-US" dirty="0" smtClean="0"/>
          </a:p>
          <a:p>
            <a:pPr marL="514350" indent="-514350">
              <a:buFont typeface="+mj-lt"/>
              <a:buAutoNum type="alphaUcPeriod"/>
            </a:pPr>
            <a:r>
              <a:rPr lang="en-US" b="1" i="1" u="sng" dirty="0"/>
              <a:t>Data centers and cloud </a:t>
            </a:r>
            <a:r>
              <a:rPr lang="en-US" b="1" i="1" u="sng" dirty="0" smtClean="0"/>
              <a:t>services :</a:t>
            </a:r>
            <a:r>
              <a:rPr lang="en-US" dirty="0" smtClean="0"/>
              <a:t> </a:t>
            </a:r>
            <a:r>
              <a:rPr lang="en-US" dirty="0"/>
              <a:t>When it comes to the data centers and cloud services, PoS is employed for connecting the servers and storage systems, with fast and efficient transfer rates. </a:t>
            </a:r>
          </a:p>
        </p:txBody>
      </p:sp>
    </p:spTree>
    <p:extLst>
      <p:ext uri="{BB962C8B-B14F-4D97-AF65-F5344CB8AC3E}">
        <p14:creationId xmlns:p14="http://schemas.microsoft.com/office/powerpoint/2010/main" val="946462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3600" b="1" dirty="0"/>
              <a:t>ADSL (Asymmetric Digital Subscriber Line</a:t>
            </a:r>
            <a:r>
              <a:rPr lang="en-US" sz="3600" b="1" dirty="0" smtClean="0"/>
              <a:t>)</a:t>
            </a:r>
            <a:endParaRPr lang="en-US" sz="3600" dirty="0"/>
          </a:p>
        </p:txBody>
      </p:sp>
      <p:sp>
        <p:nvSpPr>
          <p:cNvPr id="3" name="Content Placeholder 2"/>
          <p:cNvSpPr>
            <a:spLocks noGrp="1"/>
          </p:cNvSpPr>
          <p:nvPr>
            <p:ph sz="quarter" idx="13"/>
          </p:nvPr>
        </p:nvSpPr>
        <p:spPr/>
        <p:txBody>
          <a:bodyPr>
            <a:normAutofit fontScale="77500" lnSpcReduction="20000"/>
          </a:bodyPr>
          <a:lstStyle/>
          <a:p>
            <a:r>
              <a:rPr lang="en-US" dirty="0"/>
              <a:t>Digital subscriber lines (DSLs) are high-speed Internet connections that use standard telephone lines</a:t>
            </a:r>
            <a:r>
              <a:rPr lang="en-US" dirty="0" smtClean="0"/>
              <a:t>.</a:t>
            </a:r>
          </a:p>
          <a:p>
            <a:r>
              <a:rPr lang="en-US" dirty="0" smtClean="0"/>
              <a:t> </a:t>
            </a:r>
            <a:r>
              <a:rPr lang="en-US" dirty="0"/>
              <a:t>DSL uses the standard twisted-pair telephone lines that come into every home for normal telephone service. </a:t>
            </a:r>
            <a:endParaRPr lang="en-US" dirty="0" smtClean="0"/>
          </a:p>
          <a:p>
            <a:r>
              <a:rPr lang="en-US" dirty="0" smtClean="0"/>
              <a:t>The </a:t>
            </a:r>
            <a:r>
              <a:rPr lang="en-US" dirty="0"/>
              <a:t>main selling point of DSL is widespread availability. </a:t>
            </a:r>
            <a:endParaRPr lang="en-US" dirty="0" smtClean="0"/>
          </a:p>
          <a:p>
            <a:r>
              <a:rPr lang="en-US" dirty="0"/>
              <a:t>ADSL (Asymmetric Digital Subscriber Line) is a technology that facilitates fast data transmission at a high bandwidth on existing copper wire telephone lines to homes and businesses. </a:t>
            </a:r>
            <a:endParaRPr lang="en-US" dirty="0" smtClean="0"/>
          </a:p>
          <a:p>
            <a:r>
              <a:rPr lang="en-US" dirty="0"/>
              <a:t> ADSL is asymmetric in that it uses most channels to transmit downstream to the user and only a small part for uploading information from the user. </a:t>
            </a:r>
          </a:p>
        </p:txBody>
      </p:sp>
    </p:spTree>
    <p:extLst>
      <p:ext uri="{BB962C8B-B14F-4D97-AF65-F5344CB8AC3E}">
        <p14:creationId xmlns:p14="http://schemas.microsoft.com/office/powerpoint/2010/main" val="617225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err="1" smtClean="0"/>
              <a:t>Con’t</a:t>
            </a:r>
            <a:endParaRPr lang="en-US" dirty="0"/>
          </a:p>
        </p:txBody>
      </p:sp>
      <p:sp>
        <p:nvSpPr>
          <p:cNvPr id="3" name="Content Placeholder 2"/>
          <p:cNvSpPr>
            <a:spLocks noGrp="1"/>
          </p:cNvSpPr>
          <p:nvPr>
            <p:ph sz="quarter" idx="13"/>
          </p:nvPr>
        </p:nvSpPr>
        <p:spPr>
          <a:xfrm>
            <a:off x="457200" y="1295400"/>
            <a:ext cx="8229600" cy="4830763"/>
          </a:xfrm>
        </p:spPr>
        <p:txBody>
          <a:bodyPr>
            <a:normAutofit fontScale="85000" lnSpcReduction="20000"/>
          </a:bodyPr>
          <a:lstStyle/>
          <a:p>
            <a:r>
              <a:rPr lang="en-US" dirty="0"/>
              <a:t>ADSL simultaneously accommodates analog (voice) information and data on the same phone line. It is generally offered at downstream internet connection data rates from 512 kilobits per second (Kbps) to about 6 megabits per second (Mbps). </a:t>
            </a:r>
            <a:endParaRPr lang="en-US" dirty="0" smtClean="0"/>
          </a:p>
          <a:p>
            <a:r>
              <a:rPr lang="en-US" dirty="0" smtClean="0"/>
              <a:t>It </a:t>
            </a:r>
            <a:r>
              <a:rPr lang="en-US" dirty="0"/>
              <a:t>works on the principle that since voice does not use anything like all of the bandwidth available from a standard copper twisted pair line, it’s possible to maintain a high-speed data connection at the same time. </a:t>
            </a:r>
            <a:endParaRPr lang="en-US" dirty="0" smtClean="0"/>
          </a:p>
          <a:p>
            <a:r>
              <a:rPr lang="en-US" dirty="0"/>
              <a:t>ADSL works on existing copper phone lines by using a DSL filter, or splitter, to isolate the bands with higher frequencies so that the landline and the ADSL modem can be used at the same time. </a:t>
            </a:r>
            <a:endParaRPr lang="en-US" dirty="0" smtClean="0"/>
          </a:p>
          <a:p>
            <a:r>
              <a:rPr lang="en-US" dirty="0" smtClean="0"/>
              <a:t>At </a:t>
            </a:r>
            <a:r>
              <a:rPr lang="en-US" dirty="0"/>
              <a:t>the central office, or telephone exchange, the line ends at the DSL access multiplexer (DSLAM), where an additional splitter segregates the voice signal to the phone network. </a:t>
            </a:r>
            <a:endParaRPr lang="en-US" dirty="0" smtClean="0"/>
          </a:p>
          <a:p>
            <a:r>
              <a:rPr lang="en-US" dirty="0" smtClean="0"/>
              <a:t>It </a:t>
            </a:r>
            <a:r>
              <a:rPr lang="en-US" dirty="0"/>
              <a:t>was designed to exploit the one-way nature of most multimedia communication in which large amounts of information flow toward the user and only a small amount of interactive control information is returned.</a:t>
            </a:r>
          </a:p>
          <a:p>
            <a:endParaRPr lang="en-US" dirty="0"/>
          </a:p>
        </p:txBody>
      </p:sp>
    </p:spTree>
    <p:extLst>
      <p:ext uri="{BB962C8B-B14F-4D97-AF65-F5344CB8AC3E}">
        <p14:creationId xmlns:p14="http://schemas.microsoft.com/office/powerpoint/2010/main" val="1815596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How does ADSL differ from SDSL?</a:t>
            </a:r>
          </a:p>
        </p:txBody>
      </p:sp>
      <p:sp>
        <p:nvSpPr>
          <p:cNvPr id="3" name="Content Placeholder 2"/>
          <p:cNvSpPr>
            <a:spLocks noGrp="1"/>
          </p:cNvSpPr>
          <p:nvPr>
            <p:ph sz="quarter" idx="13"/>
          </p:nvPr>
        </p:nvSpPr>
        <p:spPr/>
        <p:txBody>
          <a:bodyPr>
            <a:normAutofit fontScale="70000" lnSpcReduction="20000"/>
          </a:bodyPr>
          <a:lstStyle/>
          <a:p>
            <a:r>
              <a:rPr lang="en-US" dirty="0"/>
              <a:t>The most major difference between these two groups is in how much bandwidth they allocate to the user</a:t>
            </a:r>
            <a:r>
              <a:rPr lang="en-US" dirty="0" smtClean="0"/>
              <a:t>.</a:t>
            </a:r>
          </a:p>
          <a:p>
            <a:r>
              <a:rPr lang="en-US" dirty="0" smtClean="0"/>
              <a:t> </a:t>
            </a:r>
            <a:r>
              <a:rPr lang="en-US" dirty="0"/>
              <a:t>Since SDSL is </a:t>
            </a:r>
            <a:r>
              <a:rPr lang="en-US" dirty="0" smtClean="0"/>
              <a:t>symmetric , It </a:t>
            </a:r>
            <a:r>
              <a:rPr lang="en-US" dirty="0"/>
              <a:t>offers equal download and upload speeds to the user while, although the download speed is also very high for ADSL, the upload speed can be significantly slower. </a:t>
            </a:r>
            <a:endParaRPr lang="en-US" dirty="0" smtClean="0"/>
          </a:p>
          <a:p>
            <a:r>
              <a:rPr lang="en-US" dirty="0"/>
              <a:t>Some people, especially those who upload videos or other content, may prefer the high upload bandwidth of SDSL, but for most people, ADSL provides sufficient upload speed since we download much more information than we upload while browsing the internet, watching videos, and downloading files</a:t>
            </a:r>
            <a:r>
              <a:rPr lang="en-US" dirty="0" smtClean="0"/>
              <a:t>.</a:t>
            </a:r>
          </a:p>
          <a:p>
            <a:r>
              <a:rPr lang="en-US" dirty="0" smtClean="0"/>
              <a:t> </a:t>
            </a:r>
            <a:r>
              <a:rPr lang="en-US" dirty="0"/>
              <a:t>ADSL is a standardized technology and as such, most devices that can operate with ADSL can be used </a:t>
            </a:r>
            <a:r>
              <a:rPr lang="en-US" dirty="0" smtClean="0"/>
              <a:t>interchangeably , they </a:t>
            </a:r>
            <a:r>
              <a:rPr lang="en-US" dirty="0"/>
              <a:t>adapt to the standard and are therefore compatible. </a:t>
            </a:r>
            <a:endParaRPr lang="en-US" dirty="0" smtClean="0"/>
          </a:p>
          <a:p>
            <a:r>
              <a:rPr lang="en-US" dirty="0" smtClean="0"/>
              <a:t>SDSL </a:t>
            </a:r>
            <a:r>
              <a:rPr lang="en-US" dirty="0"/>
              <a:t>is proprietary and was never standardized, leaving manufacturers to implement their own standards in how their devices are supposed to operate. </a:t>
            </a:r>
          </a:p>
        </p:txBody>
      </p:sp>
    </p:spTree>
    <p:extLst>
      <p:ext uri="{BB962C8B-B14F-4D97-AF65-F5344CB8AC3E}">
        <p14:creationId xmlns:p14="http://schemas.microsoft.com/office/powerpoint/2010/main" val="3657615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Over Cable Service Interface Specification (DOCSIS)</a:t>
            </a:r>
            <a:r>
              <a:rPr lang="en-US" dirty="0"/>
              <a:t/>
            </a:r>
            <a:br>
              <a:rPr lang="en-US" dirty="0"/>
            </a:br>
            <a:endParaRPr lang="en-US" dirty="0"/>
          </a:p>
        </p:txBody>
      </p:sp>
      <p:sp>
        <p:nvSpPr>
          <p:cNvPr id="3" name="Content Placeholder 2"/>
          <p:cNvSpPr>
            <a:spLocks noGrp="1"/>
          </p:cNvSpPr>
          <p:nvPr>
            <p:ph sz="quarter" idx="13"/>
          </p:nvPr>
        </p:nvSpPr>
        <p:spPr/>
        <p:txBody>
          <a:bodyPr>
            <a:normAutofit fontScale="70000" lnSpcReduction="20000"/>
          </a:bodyPr>
          <a:lstStyle/>
          <a:p>
            <a:r>
              <a:rPr lang="en-US" b="1" dirty="0" smtClean="0"/>
              <a:t>DOCSIS</a:t>
            </a:r>
            <a:r>
              <a:rPr lang="en-US" dirty="0" smtClean="0"/>
              <a:t> </a:t>
            </a:r>
            <a:r>
              <a:rPr lang="en-US" dirty="0"/>
              <a:t>is a telecommunications standard used globally to provide high-speed internet access </a:t>
            </a:r>
            <a:r>
              <a:rPr lang="en-US" dirty="0" smtClean="0"/>
              <a:t>via </a:t>
            </a:r>
            <a:r>
              <a:rPr lang="en-US" dirty="0"/>
              <a:t>cable TV </a:t>
            </a:r>
            <a:r>
              <a:rPr lang="en-US" dirty="0" smtClean="0"/>
              <a:t>networks.</a:t>
            </a:r>
          </a:p>
          <a:p>
            <a:r>
              <a:rPr lang="en-US" dirty="0"/>
              <a:t>This technology enables continuous connection with the internet over cable by converting data to a format easily transmitted over these networks</a:t>
            </a:r>
            <a:r>
              <a:rPr lang="en-US" dirty="0" smtClean="0"/>
              <a:t>.</a:t>
            </a:r>
          </a:p>
          <a:p>
            <a:r>
              <a:rPr lang="en-US" dirty="0"/>
              <a:t>This technology enables continuous connection with the internet over cable by converting data to a format easily transmitted over these networks</a:t>
            </a:r>
            <a:r>
              <a:rPr lang="en-US" dirty="0" smtClean="0"/>
              <a:t>.</a:t>
            </a:r>
          </a:p>
          <a:p>
            <a:r>
              <a:rPr lang="en-US" dirty="0"/>
              <a:t>The purpose of DOCSIS is to help cable providers deliver high-speed broadband internet service to their customers, over their existing hybrid fiber coaxial infrastructure, without the need for substantial renovations of the existing network. </a:t>
            </a:r>
            <a:endParaRPr lang="en-US" dirty="0" smtClean="0"/>
          </a:p>
          <a:p>
            <a:r>
              <a:rPr lang="en-US" dirty="0"/>
              <a:t>DOCSIS is utilized predominantly for transferring data over the internet to our homes, places of work, or wherever we connect digitally. </a:t>
            </a:r>
          </a:p>
        </p:txBody>
      </p:sp>
    </p:spTree>
    <p:extLst>
      <p:ext uri="{BB962C8B-B14F-4D97-AF65-F5344CB8AC3E}">
        <p14:creationId xmlns:p14="http://schemas.microsoft.com/office/powerpoint/2010/main" val="1344160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DOCSIS Architecture</a:t>
            </a:r>
          </a:p>
        </p:txBody>
      </p:sp>
      <p:sp>
        <p:nvSpPr>
          <p:cNvPr id="3" name="Content Placeholder 2"/>
          <p:cNvSpPr>
            <a:spLocks noGrp="1"/>
          </p:cNvSpPr>
          <p:nvPr>
            <p:ph sz="quarter" idx="13"/>
          </p:nvPr>
        </p:nvSpPr>
        <p:spPr/>
        <p:txBody>
          <a:bodyPr>
            <a:normAutofit fontScale="92500" lnSpcReduction="20000"/>
          </a:bodyPr>
          <a:lstStyle/>
          <a:p>
            <a:r>
              <a:rPr lang="en-US" dirty="0"/>
              <a:t>The DOCSIS architecture consists of two primary </a:t>
            </a:r>
            <a:r>
              <a:rPr lang="en-US" dirty="0" smtClean="0"/>
              <a:t>components :</a:t>
            </a:r>
          </a:p>
          <a:p>
            <a:pPr marL="514350" indent="-514350">
              <a:buFont typeface="+mj-lt"/>
              <a:buAutoNum type="arabicPeriod"/>
            </a:pPr>
            <a:r>
              <a:rPr lang="en-US" dirty="0"/>
              <a:t>A cable modem located with the customer </a:t>
            </a:r>
            <a:r>
              <a:rPr lang="en-US" dirty="0" smtClean="0"/>
              <a:t>and</a:t>
            </a:r>
          </a:p>
          <a:p>
            <a:pPr marL="514350" indent="-514350">
              <a:buFont typeface="+mj-lt"/>
              <a:buAutoNum type="arabicPeriod"/>
            </a:pPr>
            <a:r>
              <a:rPr lang="en-US" dirty="0"/>
              <a:t>the cable modem termination system operated by cable service </a:t>
            </a:r>
            <a:r>
              <a:rPr lang="en-US" dirty="0" smtClean="0"/>
              <a:t>providers</a:t>
            </a:r>
          </a:p>
          <a:p>
            <a:r>
              <a:rPr lang="en-US" dirty="0"/>
              <a:t>The second function is to perform as a Hi-Speed way station for multiple cable modems and then communicate with the system network. </a:t>
            </a:r>
            <a:endParaRPr lang="en-US" dirty="0" smtClean="0"/>
          </a:p>
          <a:p>
            <a:r>
              <a:rPr lang="en-US" dirty="0" smtClean="0"/>
              <a:t>DOCSIS </a:t>
            </a:r>
            <a:r>
              <a:rPr lang="en-US" dirty="0"/>
              <a:t>defines protocol for bi-directional signal exchange between these two components through the use of cable.</a:t>
            </a:r>
          </a:p>
        </p:txBody>
      </p:sp>
    </p:spTree>
    <p:extLst>
      <p:ext uri="{BB962C8B-B14F-4D97-AF65-F5344CB8AC3E}">
        <p14:creationId xmlns:p14="http://schemas.microsoft.com/office/powerpoint/2010/main" val="2933706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Versions of DOCSIS</a:t>
            </a:r>
            <a:endParaRPr lang="en-US" dirty="0"/>
          </a:p>
        </p:txBody>
      </p:sp>
      <p:sp>
        <p:nvSpPr>
          <p:cNvPr id="3" name="Content Placeholder 2"/>
          <p:cNvSpPr>
            <a:spLocks noGrp="1"/>
          </p:cNvSpPr>
          <p:nvPr>
            <p:ph sz="quarter" idx="13"/>
          </p:nvPr>
        </p:nvSpPr>
        <p:spPr/>
        <p:txBody>
          <a:bodyPr>
            <a:normAutofit fontScale="92500" lnSpcReduction="20000"/>
          </a:bodyPr>
          <a:lstStyle/>
          <a:p>
            <a:pPr lvl="0"/>
            <a:r>
              <a:rPr lang="en-US" b="1" dirty="0" smtClean="0"/>
              <a:t>DOSCIS </a:t>
            </a:r>
            <a:r>
              <a:rPr lang="en-US" b="1" dirty="0"/>
              <a:t>1.0</a:t>
            </a:r>
            <a:r>
              <a:rPr lang="en-US" dirty="0"/>
              <a:t> − It was the first version for cable modem system.</a:t>
            </a:r>
          </a:p>
          <a:p>
            <a:pPr lvl="0"/>
            <a:r>
              <a:rPr lang="en-US" b="1" dirty="0"/>
              <a:t>DOSCIS 2.0</a:t>
            </a:r>
            <a:r>
              <a:rPr lang="en-US" dirty="0"/>
              <a:t> − It enhanced upstream data from computer to the operator to allow services requiring equal data transfer in both uplink and downlink, like IP telephony.</a:t>
            </a:r>
          </a:p>
          <a:p>
            <a:pPr lvl="0"/>
            <a:r>
              <a:rPr lang="en-US" b="1" dirty="0"/>
              <a:t>DOSCIS 3.0</a:t>
            </a:r>
            <a:r>
              <a:rPr lang="en-US" dirty="0"/>
              <a:t> − It supports IPv6 standard. It is marked by increase in transmission speed for both uplink and downlink.</a:t>
            </a:r>
          </a:p>
          <a:p>
            <a:pPr lvl="0"/>
            <a:r>
              <a:rPr lang="en-US" b="1" dirty="0"/>
              <a:t>DOSCIS 3.1 Full Duplex</a:t>
            </a:r>
            <a:r>
              <a:rPr lang="en-US" dirty="0"/>
              <a:t> − It uses full cable spectrum simultaneously for both uplink and downlink data transfer.</a:t>
            </a:r>
          </a:p>
          <a:p>
            <a:endParaRPr lang="en-US" dirty="0"/>
          </a:p>
        </p:txBody>
      </p:sp>
    </p:spTree>
    <p:extLst>
      <p:ext uri="{BB962C8B-B14F-4D97-AF65-F5344CB8AC3E}">
        <p14:creationId xmlns:p14="http://schemas.microsoft.com/office/powerpoint/2010/main" val="1366799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Features of </a:t>
            </a:r>
            <a:r>
              <a:rPr lang="en-US" b="1" dirty="0" smtClean="0"/>
              <a:t>DOSCIS</a:t>
            </a:r>
            <a:endParaRPr lang="en-US" dirty="0"/>
          </a:p>
        </p:txBody>
      </p:sp>
      <p:sp>
        <p:nvSpPr>
          <p:cNvPr id="3" name="Content Placeholder 2"/>
          <p:cNvSpPr>
            <a:spLocks noGrp="1"/>
          </p:cNvSpPr>
          <p:nvPr>
            <p:ph sz="quarter" idx="13"/>
          </p:nvPr>
        </p:nvSpPr>
        <p:spPr/>
        <p:txBody>
          <a:bodyPr>
            <a:normAutofit fontScale="77500" lnSpcReduction="20000"/>
          </a:bodyPr>
          <a:lstStyle/>
          <a:p>
            <a:pPr lvl="0"/>
            <a:r>
              <a:rPr lang="en-US" dirty="0"/>
              <a:t>Downstream data rate is typically 6MHz. Upstream data rate is up to 3.2MHz for DOCSIS 1.0 and 6.4MHz for later versions.</a:t>
            </a:r>
          </a:p>
          <a:p>
            <a:pPr lvl="0"/>
            <a:r>
              <a:rPr lang="en-US" dirty="0"/>
              <a:t>For simultaneous multiple transmissions, time division multiple access (TDMA) and code division multiple access (CDMA) are used.</a:t>
            </a:r>
          </a:p>
          <a:p>
            <a:pPr lvl="0"/>
            <a:r>
              <a:rPr lang="en-US" dirty="0"/>
              <a:t>It supports channel bonding that allows a subscriber to use multiple downstream and upstream channels simultaneously.</a:t>
            </a:r>
          </a:p>
          <a:p>
            <a:pPr lvl="0"/>
            <a:r>
              <a:rPr lang="en-US" dirty="0"/>
              <a:t>It supports applications requiring low latency like Voice over IP.</a:t>
            </a:r>
          </a:p>
          <a:p>
            <a:pPr lvl="0"/>
            <a:r>
              <a:rPr lang="en-US" dirty="0"/>
              <a:t>DOCSIS modems are managed by IP addresses. DOCSIS 3.0 and above supports IPv6.</a:t>
            </a:r>
          </a:p>
          <a:p>
            <a:endParaRPr lang="en-US" dirty="0"/>
          </a:p>
        </p:txBody>
      </p:sp>
    </p:spTree>
    <p:extLst>
      <p:ext uri="{BB962C8B-B14F-4D97-AF65-F5344CB8AC3E}">
        <p14:creationId xmlns:p14="http://schemas.microsoft.com/office/powerpoint/2010/main" val="820514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THANK YOU FOR PAY ATTENTION</a:t>
            </a:r>
            <a:endParaRPr lang="en-US" dirty="0"/>
          </a:p>
        </p:txBody>
      </p:sp>
    </p:spTree>
    <p:extLst>
      <p:ext uri="{BB962C8B-B14F-4D97-AF65-F5344CB8AC3E}">
        <p14:creationId xmlns:p14="http://schemas.microsoft.com/office/powerpoint/2010/main" val="3159709588"/>
      </p:ext>
    </p:extLst>
  </p:cSld>
  <p:clrMapOvr>
    <a:masterClrMapping/>
  </p:clrMapOvr>
</p:sld>
</file>

<file path=ppt/theme/theme1.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892</TotalTime>
  <Words>1113</Words>
  <Application>Microsoft Office PowerPoint</Application>
  <PresentationFormat>On-screen Show (4:3)</PresentationFormat>
  <Paragraphs>81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Slipstream</vt:lpstr>
      <vt:lpstr>PowerPoint Presentation</vt:lpstr>
      <vt:lpstr>Contents</vt:lpstr>
      <vt:lpstr>Packet over SONET</vt:lpstr>
      <vt:lpstr> Architecture and Operation</vt:lpstr>
      <vt:lpstr>Advantages of Packet over SONET</vt:lpstr>
      <vt:lpstr> Applications </vt:lpstr>
      <vt:lpstr>ADSL (Asymmetric Digital Subscriber Line)</vt:lpstr>
      <vt:lpstr>Con’t</vt:lpstr>
      <vt:lpstr> How does ADSL differ from SDSL?</vt:lpstr>
      <vt:lpstr>Data Over Cable Service Interface Specification (DOCSIS) </vt:lpstr>
      <vt:lpstr>DOCSIS Architecture</vt:lpstr>
      <vt:lpstr>Versions of DOCSIS</vt:lpstr>
      <vt:lpstr> Features of DOSCIS</vt:lpstr>
      <vt:lpstr>THANK YOU FOR PAY ATTENTION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Packet over SONET</dc:title>
  <dc:creator>hp</dc:creator>
  <cp:lastModifiedBy>hp</cp:lastModifiedBy>
  <cp:revision>17</cp:revision>
  <dcterms:created xsi:type="dcterms:W3CDTF">2024-05-24T16:23:49Z</dcterms:created>
  <dcterms:modified xsi:type="dcterms:W3CDTF">2024-05-25T07:16:33Z</dcterms:modified>
</cp:coreProperties>
</file>